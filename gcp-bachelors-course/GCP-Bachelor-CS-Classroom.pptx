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we teach decisions, not product catalogs.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is still YOUR responsibility after you move to cloud?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Zone = failure domain. Region = latency &amp; data residency.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download JSON keys for new designs. Use attached 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Regional MIG survives zone failure. Single VM survives almost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at Cloud Run. Move left only when a constraint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put checkout transactions in BigQuery. Do not scan Firestore for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must never block the checkout HTTP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ML: event → features → Vertex endpoint → decision → log to BQ.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Propagate trace ID across HTTP and Pub/Sub or debugging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must justify every box. Extra services need a sentence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Seminar Q: what is synchronous vs asynchronous in each case?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students. Point to gcp-bachelors-course/ for full notes, figures,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02124"/>
                </a:solidFill>
              </a:defRPr>
            </a:pPr>
            <a:r>
              <a:t>Google Cloud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368"/>
                </a:solidFill>
              </a:defRPr>
            </a:pPr>
            <a:r>
              <a:t>Bachelor of Computer Science — 12-Week Course</a:t>
            </a:r>
            <a:br/>
            <a:r>
              <a:t>Compute · Network · Data · Real-Time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Course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Level: B.Sc. / B.Tech. CS (Year 2–3)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36 lecture hours + 24 lab hours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Prerequisites: OS, networks, databases, Linux, one programming language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Goal: design, deploy, observe, and cost a GCP application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Capstone: real-time path (Pub/Sub, Dataflow, or Firestore listeners)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Explain IaaS / PaaS / SaaS / FaaS and map to GCP products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Apply IAM least privilege across projects and service accounts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Choose compute: GCE, GKE, Cloud Run, Cloud Functions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Design VPC, load balancing, CDN, and Cloud Armor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Select storage &amp; databases by consistency, latency, and cost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Build event-driven pipelines: Pub/Sub → Dataflow → BigQuery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Instrument apps with Logging, Monitoring, Trace, SLOs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Critique real-time architectures (gaming, IoT, fraud, media)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1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Cloud Computing &amp; GCP Mental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Why cloud? (CS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E3E"/>
                </a:solidFill>
              </a:defRPr>
            </a:pPr>
            <a:r>
              <a:t>Problems in a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Capacity planning before demand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Hardware &amp; zone failures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Multi-tenant isolation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Slow manual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37400"/>
                </a:solidFill>
              </a:defRPr>
            </a:pPr>
            <a:r>
              <a:t>NIST cloud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On-demand self-service (APIs)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Broad network access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Resource pooling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Rapid elasticity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Measured service (billing)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Service models → GCP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You manage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GCP examples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IaaS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OS, runtime,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Compute Engine, Persistent Disk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Container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GKE, Cloud Run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Application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App Engine, Cloud Run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Function +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Cloud Functions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Nothing (consumer)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Gmail (not what we build)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Regions, zones &amp;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[ User ]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↓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Google Edge (CDN / Global LB)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↓  (Google backbone)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Region: asia-south1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├── Zone a   (failure domain)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├── Zone b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└── Zone c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Rule: put compute next to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Resource hierarchy &amp; shared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Organization → Folders → Projects → Resources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IAM inherits downward — grant at the highest correct node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Google: physical DC, hypervisor, managed DB patches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You: IAM policy, app authZ, GCE OS patches, data classification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SLA (product) ≠ SLO (your user promise) — design for 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2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IAM, Identity &amp; 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IAM principals &amp; roles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Principal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Google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Humans (faculty, students)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Service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Workloads (API, Cloud Run, GCE)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Google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Teams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Workload Identity Federation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CI/CD without JSON keys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IAM policy &amp; FinOps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Policy = allow { member, role } on resource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Prefer predefined/custom roles over Owner/Editor/Viewer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IAM Conditions: time, IP, resource tags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Billing: SKUs, labels, budgets + Pub/Sub alerts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Surprise costs: egress, idle GKE, BigQuery SELECT *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Quotas protect you — lab failures are often quota, not IAM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3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Compute Engine &amp; MIGs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GCE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VM = machine type + boot disk + NIC + service account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Families: general (E2/N2), compute (C2), memory (M3), GPU (A2/G2)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Disks: pd-balanced, pd-ssd, Local SSD (ephemeral, high IOPS)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Metadata server issues short-lived tokens — protect the VM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MIG = template + autoscaler + health checks + autohealing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Regional MIG + Global Load Balancer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[ Users ]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   ↓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Global HTTP(S) Load Balancer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↙            ↘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[ VM zone-a ]   [ VM zone-b ]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Regional Managed Instance Group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   ↑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Autoscaler (CPU 60%)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4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Containers: GKE &amp; Cloud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Compute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Need full OS / GPU you manage?  →  GCE / MIG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Many services, sidecars, operators?  →  GKE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HTTP/events, scale to zero OK?  →  Cloud Run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Tiny glue (GCS finalize → API)?  →  Cloud Functions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Default for student projects: Cloud Run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GKE vs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E3E"/>
                </a:solidFill>
              </a:defRPr>
            </a:pPr>
            <a:r>
              <a:t>GKE (Kubernetes)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Regional control plane (Google-managed)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Node pools on GCE VMs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Workload Identity (no JSON keys)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Best: complex networking, operators, mixed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37400"/>
                </a:solidFill>
              </a:defRPr>
            </a:pPr>
            <a:r>
              <a:t>Cloud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Run a container — HTTPS endpoint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Scale to zero, concurrency per instance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Revision-based deploys &amp; canary splits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Best: single HTTP microservices, bursty traffic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5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VPC Networking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VPC model (GCP vs AWS trap)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GCP: VPC is GLOBAL; subnets are REGIONAL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Custom-mode VPC required for production hygiene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Firewall rules: stateful, by network tags or service accounts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Private Google Access: reach *.googleapis.com without public IP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NAT: outbound Internet for private VMs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IAP: authenticate before SSH — never 0.0.0.0/0 on port 22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Peering is NOT transitive (A–B and B–C ≠ A–C)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Private VM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GCE (no public IP)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├─ Private Google Access → GCS / Pub/Sub APIs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├─ Cloud NAT → Internet (apt, third-party)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└─ IAP tunnel → SSH from authorized users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6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Load Balancing, CDN &amp; Security Edge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Load balancer taxonomy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GCP product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Application (L7)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HTTP/HTTPS, SSL, URL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Global HTTP(S) LB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Passthrough (L4)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TCP/UDP, preserve client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Network LB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East-west RFC1918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Internal LB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CDN, DNS &amp; Cloud Armor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CDN / Media CDN: cache at edge, signed URLs for premium content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DNS: public/private zones, weighted &amp; geo routing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Armor: WAF + DDoS on global HTTP(S) LB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Health checks must hit a cheap /healthz endpoint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Prefer stateless backends over sticky sessions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7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Object &amp; Block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Storage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Semantics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Cloud Storage (GCS)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Data lake, backups, static web, signed uploads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Persistent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VM boot, single-writer databases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Filestore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POSIX NFS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Lift-and-shift shared files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GCS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Classes: Standard, Nearline, Coldline, Archive (+ Autoclass)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Strong consistency for object overwrites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Uniform bucket-level IAM (not public ACLs)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Signed URLs: browser upload without public bucket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Lifecycle rules: expire tmp/ after 7 days in labs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Versioning + CMEK for regulated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8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Databases — The Decision Lecture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Database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SQL transactions, one region     →  Cloud SQL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SQL global, horizontal scale     →  Spanner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Documents + live client sync     →  Firestore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Huge keyed telemetry / IoT       →  Bigtable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Sub-ms cache / sessions          →  Memorystore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Analytics SQL on TB–PB           →  BigQuery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CAP &amp; hot-spotting (exam favorites)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You cannot maximize C, A, and P independently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Spanner: TrueTime waits out clock uncertainty for global commits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Firestore: strong per-document; realtime listeners push to clients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Bigtable: row key design is the course — avoid monotonic keys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Hot geohash / hot user ID = one tablet overloaded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9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Events &amp; Stream Processing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Pub/Sub fan-out (real-time backbone)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[ Producers: API / IoT / GCE ]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     ↓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[ Topic ]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↙   ↓   ↘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Cloud Run  Dataflow  BigQuery sub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↘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Dead Letter Topic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One topic, many independent subscribers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Pub/Sub &amp;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At-least-once delivery — design idempotent consumers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Ordering keys: per-key order, throughput trade-off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Dead letter topics for poison messages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Seek / replay for operations and debugging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Dataflow (Apache Beam): batch + streaming, windows, watermarks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Event time ≠ processing time — late data still happens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Idempotency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Publisher → Topic → Consumer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Consumer crashes before ACK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Topic redelivers same message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Fix: UPSERT with idempotency key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INSERT ... ON CONFLICT (order_id) DO NOTHING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10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Analytics &amp; Machine Learning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BigQuery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Storage (columnar) independent of compute (slots / on-demand)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Standard SQL — partition + cluster or pay for full scans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Streaming inserts vs load jobs vs Storage Write API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BigQuery ML: CREATE MODEL for quick baselines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Looker Studio for dashboards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Teach students: LIMIT, preview, _TABLE_SUFFIX on public data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Vertex AI (survey)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Produce model artifacts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Feature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Online/offline features for scoring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Low-latency online prediction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Batch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Score a table overnight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Vector Search / 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RAG, semantic retrieval, LLM apps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11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Operations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Defense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Organization Policy: disable public buckets, restrict regions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VPC Service Controls: anti-exfiltration perimeter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KMS / CMEK / Cloud HSM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Secret Manager — never secrets in Git or metadata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Binary Authorization + Artifact vulnerability scanning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Armor + IAP on public admin paths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Observability — four golden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GCP tools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Cloud Monitoring, Cloud Trace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Cloud Monitoring request counts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Error Reporting, log-based metrics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CPU/memory/disk metrics, slot usage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CI/CD without JSON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GitHub Actions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↓ OIDC token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Workload Identity Federation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↓ short-lived GCP token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Artifact Registry → Cloud Run deploy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Week 12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Architecture, Cost &amp; Revision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Well-architected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What fails? (zone, region, identity, quota, poison message)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What are RPO and RTO?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What consistency does the business require?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What is the p99 latency budget and where is it spent?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What is unit cost at 10× traffic?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Who can exfiltrate data?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Student SaaS reference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Browser → CDN → HTTPS LB + Armor → Cloud Run API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├─ Cloud SQL (private IP)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├─ GCS signed URLs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└─ Pub/Sub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├─ Search indexer (Cloud Run)</a:t>
            </a:r>
          </a:p>
          <a:p>
            <a:pPr algn="ctr">
              <a:defRPr sz="1500">
                <a:solidFill>
                  <a:srgbClr val="202124"/>
                </a:solidFill>
                <a:latin typeface="Consolas"/>
              </a:defRPr>
            </a:pPr>
            <a:r>
              <a:t>         └─ Dataflow → BigQuery → Looker Studio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Cost landmines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Idle GKE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Delete cluster after lab; use Cloud Run default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BigQuery SELECT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Partition, cluster, column pruning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Internet egress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CDN, same-region compute+data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Forgotten disks / static 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Tear-down checklist every session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Seminars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Real-Time Use Cases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Real-time case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Sync path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Async / stream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Location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GKE/Run + global 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Pub/Sub → Dataflow → BQ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Ride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Dispatch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Location stream join (Dataflow)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Card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Vertex + Redis &lt;40ms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Score logs to BQ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Campus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Pub/Sub → Dataflow → alerts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Live sports / 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Media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Scores via Pub/Sub → Firestore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Social media 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Signed URL to GCS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Object-finalize workers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Case deep-dive: fraud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E3E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p99 &lt; 40 ms inside VPC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Velocity counters (tx / 10 min)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Model refresh without downtime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Every score logged for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37400"/>
                </a:solidFill>
              </a:defRPr>
            </a:pPr>
            <a:r>
              <a:t>GCP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Cloud Run min instances or GKE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Memorystore for velocity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Vertex private endpoint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Pub/Sub async enrichment (not on sync path)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BigQuery training + drift monitoring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Case deep-dive: IoT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E3E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10k sensors every 5 seconds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Alerts in &lt; 15 seconds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Years of history for analytics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Device credential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37400"/>
                </a:solidFill>
              </a:defRPr>
            </a:pPr>
            <a:r>
              <a:t>GCP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Pub/Sub ingest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Dataflow rules + windows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Bigtable (hot) + BigQuery (cold)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Monitoring + Pub/Sub → notifier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• Firestore device twins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Labs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Hands-On &amp; Assessment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Core lab: real-time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Dataset + partitioned table in BigQuery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Pub/Sub topic + push/pull subscription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Run consumer with idempotent insert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Publish 100 messages — verify COUNT(*) in BQ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Poison message → dead letter topic after N nacks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Extension: Dataflow template Pub/Sub → BigQuery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73E8"/>
                </a:solidFill>
              </a:defRPr>
            </a:pPr>
            <a:r>
              <a:t>Assessment (suggested)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Lab portfolio (8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Midterm (weeks 1–6)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Capstone +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Final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124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Capstone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Must include real-time path (Pub/Sub, Dataflow, or Firestore listeners)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IAM: no Editor on runtime service account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Custom VPC or documented serverless egress story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Failure modes: DLQ, retries, idempotency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Cost estimate at 10× traffic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8-minute demo + tear-down runbook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3E8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Cloud = APIs + elasticity + shared responsibility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Default compute: Cloud Run unless GCE/GKE constraints appear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One Pub/Sub topic, many subscribers — decouple sync from async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At-least-once → idempotent consumers → dead letter queues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BigQuery for analytics; Cloud SQL/Spanner for transactions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</a:defRPr>
            </a:pPr>
            <a:r>
              <a:t>No JSON keys; budget alerts; delete GKE after every lab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02124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368"/>
                </a:solidFill>
              </a:defRPr>
            </a:pPr>
            <a:r>
              <a:t>Full materials: gcp-bachelors-course/</a:t>
            </a:r>
            <a:br/>
            <a:r>
              <a:t>Lecture notes · Mermaid figures · Labs · Assessments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